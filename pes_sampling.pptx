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58" r:id="rId4"/>
    <p:sldId id="259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303"/>
    <p:restoredTop sz="94689"/>
  </p:normalViewPr>
  <p:slideViewPr>
    <p:cSldViewPr snapToGrid="0">
      <p:cViewPr varScale="1">
        <p:scale>
          <a:sx n="65" d="100"/>
          <a:sy n="65" d="100"/>
        </p:scale>
        <p:origin x="208" y="19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58F3B-8866-AE07-4F3D-3B43B36D8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104492-1D61-7CF3-1DDD-57B6800263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378C78-10ED-E9CE-51A0-E54C0FAA8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99969-0D85-ED47-935A-7A6B5A699A70}" type="datetimeFigureOut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75458F-71C6-40CB-9EA1-87B04B6AB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52C34-BE57-E5DC-F2A8-F58D75D0A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D8DDB-81EF-9741-BCEB-F98A5B1A9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591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C5D01-E9B2-A071-C3B8-A88CA208B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3CE3C-A92A-6D91-C01F-74F18EA0C9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45E85-60C3-3FB5-2D38-D225A2C00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99969-0D85-ED47-935A-7A6B5A699A70}" type="datetimeFigureOut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62F1FA-579A-159B-0C41-4CBA37B64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078764-C97F-FA0C-7BA4-0230975C8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D8DDB-81EF-9741-BCEB-F98A5B1A9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206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02683-0C62-29CE-61A0-622ADEB4F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3A9E04-1D7B-5CCC-4FC1-E4C7EB92A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319D08-7B4C-6483-44FF-5FFA59526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99969-0D85-ED47-935A-7A6B5A699A70}" type="datetimeFigureOut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AE7AD-D753-9997-5225-9652E0DF4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218D1E-9339-C71B-A857-57E76CF79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D8DDB-81EF-9741-BCEB-F98A5B1A9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306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46314-79E6-6838-4ED0-41D7A2179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B3D7E-4A21-4FC7-6CE2-CC7A34006B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2C2832-EE4E-5339-731A-7E30D8EFF5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A89A2E-6E11-7AF2-041B-3A2962478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99969-0D85-ED47-935A-7A6B5A699A70}" type="datetimeFigureOut">
              <a:rPr lang="en-US" smtClean="0"/>
              <a:t>1/22/26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4F782B-7AE5-F47C-BABC-48B5FA790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5375F-E2DA-7841-FA3D-8567B79FB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D8DDB-81EF-9741-BCEB-F98A5B1A9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756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ADD40-6CAD-AB57-31E3-1AAA1EE87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DD6E4F-5E6A-2BF0-2F69-823E0E58CE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E28BD0-6904-F15C-003E-DE06B6309F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E53A67-7305-3D61-5709-C16A9F9E43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A2FF81-2D89-EE77-D154-8D832D64F8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C7BB35-6AD5-F077-6B70-461603586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99969-0D85-ED47-935A-7A6B5A699A70}" type="datetimeFigureOut">
              <a:rPr lang="en-US" smtClean="0"/>
              <a:t>1/22/26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807378-68DC-3679-56FE-AC8ABA2BD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4B95AC-1A9B-4F7C-D6E6-C2FAB7306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D8DDB-81EF-9741-BCEB-F98A5B1A9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95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A6926-477E-755E-F74C-54A036E72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85464A-4F76-E440-62AD-069A4DD94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99969-0D85-ED47-935A-7A6B5A699A70}" type="datetimeFigureOut">
              <a:rPr lang="en-US" smtClean="0"/>
              <a:t>1/22/26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82FCA9-BE34-404B-91B7-0A20E855A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167128-66B3-CD84-D9FF-0E4BBD080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D8DDB-81EF-9741-BCEB-F98A5B1A9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790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5AA188-1195-1BF9-786B-D49E64422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99969-0D85-ED47-935A-7A6B5A699A70}" type="datetimeFigureOut">
              <a:rPr lang="en-US" smtClean="0"/>
              <a:t>1/22/26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6FD731-A792-B0B7-5665-E96413530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0F1CD4-4031-D083-BCDA-CC6AEB899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D8DDB-81EF-9741-BCEB-F98A5B1A9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05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1270F-B0DA-C578-26FC-78500CF38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145E8-2010-67EB-CA58-9435A2BFBB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74BF38-8965-65F9-1204-2A59A0AD2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B00A1C-8BF3-F665-68DC-28086D405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99969-0D85-ED47-935A-7A6B5A699A70}" type="datetimeFigureOut">
              <a:rPr lang="en-US" smtClean="0"/>
              <a:t>1/22/26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65D356-EDCF-1F33-4644-1A8C56D31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4C67B0-52A5-BD1E-C444-A37FB32F4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D8DDB-81EF-9741-BCEB-F98A5B1A9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619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944EE-0EA1-2602-8937-D8B686047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18FE0B-6F75-E409-9B20-C6FB06549F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8B2EFE-C0E9-5E41-4AD9-A4D78F8A6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741AC9-7697-A112-00D2-80E451F19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99969-0D85-ED47-935A-7A6B5A699A70}" type="datetimeFigureOut">
              <a:rPr lang="en-US" smtClean="0"/>
              <a:t>1/22/26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4910AC-127F-F991-18D3-64482CE2F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7B3F44-8F6A-C67F-1A3D-822371CF6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D8DDB-81EF-9741-BCEB-F98A5B1A9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281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38476-0A1C-BE03-C56F-9AD24B406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081C6E-BB47-94A6-C74B-0E7B6E5AB6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696801-4473-9C39-9EBE-600C138FF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99969-0D85-ED47-935A-7A6B5A699A70}" type="datetimeFigureOut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583821-244D-37C8-90B6-B0F994B9F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72895-9C99-15FD-E100-4B14AA761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D8DDB-81EF-9741-BCEB-F98A5B1A9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783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E6CBE0-39F7-B505-F126-E40611B9B8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799938-E783-AE8E-4953-223551AE3F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EBD5F2-E3B9-0DF5-A6C0-56E94ABB8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99969-0D85-ED47-935A-7A6B5A699A70}" type="datetimeFigureOut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5CFED-9E6A-4718-BBD0-090C7E89F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E950B-24F9-8939-EC05-12E304D41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D8DDB-81EF-9741-BCEB-F98A5B1A9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656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8529A9-A10C-BF4B-5B8F-2C604E826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8130A3-26C2-169D-FF12-BBCEC3891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EA9E46-AA5E-5A64-A6BF-B7877FAD0F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299969-0D85-ED47-935A-7A6B5A699A70}" type="datetimeFigureOut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BFC21E-8592-5053-8635-F3FF631DB5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DC598-3E37-D252-2443-71DAA1FE33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9D8DDB-81EF-9741-BCEB-F98A5B1A9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404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3A813-37B7-0C90-BA48-6ECE4AB2B4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PES Exploration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10E261-EDAE-F25E-5AB9-208F00998F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829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C4E4C-8C2E-E90D-7F25-AE58B7AE3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Wild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93DA6DB-1295-5D45-B77A-5BE8D8BBB7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718"/>
          <a:stretch>
            <a:fillRect/>
          </a:stretch>
        </p:blipFill>
        <p:spPr>
          <a:xfrm>
            <a:off x="3480076" y="107448"/>
            <a:ext cx="8711924" cy="4281133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39BAECB-C01F-56F6-FE10-76EFEF0F63B5}"/>
              </a:ext>
            </a:extLst>
          </p:cNvPr>
          <p:cNvSpPr txBox="1"/>
          <p:nvPr/>
        </p:nvSpPr>
        <p:spPr>
          <a:xfrm>
            <a:off x="3440320" y="4738549"/>
            <a:ext cx="80705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Tested magnitude = 1, 2, 3, 4, 5, 6, 8, 12</a:t>
            </a:r>
          </a:p>
          <a:p>
            <a:pPr marL="285750" indent="-285750">
              <a:buFontTx/>
              <a:buChar char="-"/>
            </a:pPr>
            <a:r>
              <a:rPr lang="en-US" dirty="0"/>
              <a:t>Best-performing: magnitude = 8 (minimum found in 38 iterations).</a:t>
            </a:r>
          </a:p>
          <a:p>
            <a:pPr marL="285750" indent="-285750">
              <a:buFontTx/>
              <a:buChar char="-"/>
            </a:pPr>
            <a:r>
              <a:rPr lang="en-US" dirty="0"/>
              <a:t>At low magnitude, </a:t>
            </a:r>
            <a:r>
              <a:rPr lang="en-US" dirty="0" err="1"/>
              <a:t>pertubations</a:t>
            </a:r>
            <a:r>
              <a:rPr lang="en-US" dirty="0"/>
              <a:t> were insignificant and would stay at the same energy for many iterations.</a:t>
            </a:r>
          </a:p>
          <a:p>
            <a:pPr marL="285750" indent="-285750">
              <a:buFontTx/>
              <a:buChar char="-"/>
            </a:pPr>
            <a:r>
              <a:rPr lang="en-US" dirty="0"/>
              <a:t>However, at magnitude = 12, perturbation was too significant and the minima was never found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B7BF77-5BCB-E603-4375-3109BE4D8C4B}"/>
              </a:ext>
            </a:extLst>
          </p:cNvPr>
          <p:cNvSpPr txBox="1"/>
          <p:nvPr/>
        </p:nvSpPr>
        <p:spPr>
          <a:xfrm>
            <a:off x="6729609" y="4289972"/>
            <a:ext cx="2228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Number of iterations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469B47-B3BA-8F7A-DA52-AE5CBED8F329}"/>
              </a:ext>
            </a:extLst>
          </p:cNvPr>
          <p:cNvSpPr txBox="1"/>
          <p:nvPr/>
        </p:nvSpPr>
        <p:spPr>
          <a:xfrm>
            <a:off x="278296" y="1730289"/>
            <a:ext cx="337930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GB" dirty="0"/>
              <a:t>'wild' randomly selects one atom and moves it in a random direction by a random distance. </a:t>
            </a:r>
          </a:p>
          <a:p>
            <a:pPr marL="285750" indent="-285750">
              <a:buFontTx/>
              <a:buChar char="-"/>
            </a:pPr>
            <a:r>
              <a:rPr lang="en-GB" dirty="0"/>
              <a:t>The distance is randomly distributed between 0.0 and the `magnitude` variable.</a:t>
            </a:r>
          </a:p>
        </p:txBody>
      </p:sp>
    </p:spTree>
    <p:extLst>
      <p:ext uri="{BB962C8B-B14F-4D97-AF65-F5344CB8AC3E}">
        <p14:creationId xmlns:p14="http://schemas.microsoft.com/office/powerpoint/2010/main" val="3616596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C2DF1-C338-D400-0C43-0F62935F5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Stretch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53ED3F-C6A8-94C4-4B0B-8DDB0C310A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441"/>
          <a:stretch>
            <a:fillRect/>
          </a:stretch>
        </p:blipFill>
        <p:spPr>
          <a:xfrm>
            <a:off x="3515338" y="0"/>
            <a:ext cx="8647044" cy="42179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700B7EC-5111-09F8-1989-5D45F2B628E7}"/>
              </a:ext>
            </a:extLst>
          </p:cNvPr>
          <p:cNvSpPr txBox="1"/>
          <p:nvPr/>
        </p:nvSpPr>
        <p:spPr>
          <a:xfrm>
            <a:off x="3515338" y="4881461"/>
            <a:ext cx="86470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Tested magnitude = 0.5, 1, 2, 3, 4, 6, 8, 12</a:t>
            </a:r>
          </a:p>
          <a:p>
            <a:pPr marL="285750" indent="-285750">
              <a:buFontTx/>
              <a:buChar char="-"/>
            </a:pPr>
            <a:r>
              <a:rPr lang="en-US" dirty="0"/>
              <a:t>Best-performing: magnitude = 0.5 (minimum found in 9 iterations), shown above</a:t>
            </a:r>
          </a:p>
          <a:p>
            <a:pPr marL="285750" indent="-285750">
              <a:buFontTx/>
              <a:buChar char="-"/>
            </a:pPr>
            <a:r>
              <a:rPr lang="en-US" dirty="0"/>
              <a:t>Generally increasing the magnitude perturbed the structure so much such that it would hop out of a lower energy basin into a higher energy basin.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1BEB2B-F87D-89E6-02D0-14F65F844097}"/>
              </a:ext>
            </a:extLst>
          </p:cNvPr>
          <p:cNvSpPr txBox="1"/>
          <p:nvPr/>
        </p:nvSpPr>
        <p:spPr>
          <a:xfrm>
            <a:off x="6724837" y="4181768"/>
            <a:ext cx="2228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Number of iterations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3EFF7F-C118-4C1E-8A4D-343BD767C96D}"/>
              </a:ext>
            </a:extLst>
          </p:cNvPr>
          <p:cNvSpPr txBox="1"/>
          <p:nvPr/>
        </p:nvSpPr>
        <p:spPr>
          <a:xfrm>
            <a:off x="29618" y="1965777"/>
            <a:ext cx="348572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GB" dirty="0"/>
              <a:t>'stretch' calculates the centroid of the cluster, then moves all the atoms away from that centroid.</a:t>
            </a:r>
          </a:p>
          <a:p>
            <a:pPr marL="285750" indent="-285750">
              <a:buFontTx/>
              <a:buChar char="-"/>
            </a:pPr>
            <a:r>
              <a:rPr lang="en-GB" dirty="0"/>
              <a:t>Each of the atoms is moved by a random distance, randomly distributed between 0.0 and the `magnitude` variable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2187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EF260-CE2D-18C7-DAA3-55E07A601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Sweep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91448E-F225-0C98-F76A-58DDF11A87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800" b="2710"/>
          <a:stretch>
            <a:fillRect/>
          </a:stretch>
        </p:blipFill>
        <p:spPr>
          <a:xfrm>
            <a:off x="4198399" y="184666"/>
            <a:ext cx="7885743" cy="41158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94D366C-11B0-8FFA-1830-C9B899C66770}"/>
              </a:ext>
            </a:extLst>
          </p:cNvPr>
          <p:cNvSpPr txBox="1"/>
          <p:nvPr/>
        </p:nvSpPr>
        <p:spPr>
          <a:xfrm>
            <a:off x="4198399" y="4826675"/>
            <a:ext cx="788574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Tested magnitude = 1, 2, 3, 4, 5, 6, 8, 12</a:t>
            </a:r>
          </a:p>
          <a:p>
            <a:pPr marL="285750" indent="-285750">
              <a:buFontTx/>
              <a:buChar char="-"/>
            </a:pPr>
            <a:r>
              <a:rPr lang="en-US" dirty="0"/>
              <a:t>Best-performing: was magnitude = 6, </a:t>
            </a:r>
            <a:r>
              <a:rPr lang="en-US" dirty="0" err="1"/>
              <a:t>minimising</a:t>
            </a:r>
            <a:r>
              <a:rPr lang="en-US" dirty="0"/>
              <a:t> in 32 iterations.</a:t>
            </a:r>
          </a:p>
          <a:p>
            <a:pPr marL="285750" indent="-285750">
              <a:buFontTx/>
              <a:buChar char="-"/>
            </a:pPr>
            <a:r>
              <a:rPr lang="en-US" dirty="0"/>
              <a:t>Generally, low magnitude </a:t>
            </a:r>
            <a:r>
              <a:rPr lang="en-US" dirty="0" err="1"/>
              <a:t>pertubations</a:t>
            </a:r>
            <a:r>
              <a:rPr lang="en-US" dirty="0"/>
              <a:t> were too insignificant to escape basins of attraction, whilst, higher than mag = 6 resulted in poorer performance as perturbations consistently escaped to higher energy minima.</a:t>
            </a:r>
          </a:p>
          <a:p>
            <a:pPr marL="285750" indent="-285750">
              <a:buFontTx/>
              <a:buChar char="-"/>
            </a:pPr>
            <a:r>
              <a:rPr lang="en-US" dirty="0"/>
              <a:t>In future could explore different numbers of atoms to perturb (k)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7C3D62-72DE-3CC0-A343-754A8D81B98A}"/>
              </a:ext>
            </a:extLst>
          </p:cNvPr>
          <p:cNvSpPr txBox="1"/>
          <p:nvPr/>
        </p:nvSpPr>
        <p:spPr>
          <a:xfrm>
            <a:off x="7263259" y="4115887"/>
            <a:ext cx="2228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Number of iterations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748A56-1EAE-9280-9124-787403A56CF6}"/>
              </a:ext>
            </a:extLst>
          </p:cNvPr>
          <p:cNvSpPr txBox="1"/>
          <p:nvPr/>
        </p:nvSpPr>
        <p:spPr>
          <a:xfrm>
            <a:off x="317082" y="1690688"/>
            <a:ext cx="388131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GB" dirty="0"/>
              <a:t>'sweep' determines the k-furthest atoms from the cluster centroid, and moves each of these atoms in a random direction by a random distance, randomly distributed between 0.0 and the `magnitude` variable.</a:t>
            </a:r>
          </a:p>
          <a:p>
            <a:pPr marL="285750" indent="-285750">
              <a:buFontTx/>
              <a:buChar char="-"/>
            </a:pPr>
            <a:r>
              <a:rPr lang="en-GB" dirty="0"/>
              <a:t>Based on the idea that the core of the cluster is likely stable, but the outermost atoms are those that need to be displaced.</a:t>
            </a:r>
          </a:p>
          <a:p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019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331E0-65E7-27EA-5BF9-0FBFF4CA4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Swap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733E9F-D5DA-58B7-57EB-AC1556C944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399" b="1830"/>
          <a:stretch>
            <a:fillRect/>
          </a:stretch>
        </p:blipFill>
        <p:spPr>
          <a:xfrm>
            <a:off x="4147930" y="365125"/>
            <a:ext cx="8044070" cy="42638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30FA5F6-3746-0978-A2C1-7579BF33570C}"/>
              </a:ext>
            </a:extLst>
          </p:cNvPr>
          <p:cNvSpPr txBox="1"/>
          <p:nvPr/>
        </p:nvSpPr>
        <p:spPr>
          <a:xfrm>
            <a:off x="5602867" y="5533201"/>
            <a:ext cx="57509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variable to modify, minimization achieved in 67 steps.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0A5FF1-1BFE-089F-8622-D78C5EA43FDA}"/>
              </a:ext>
            </a:extLst>
          </p:cNvPr>
          <p:cNvSpPr txBox="1"/>
          <p:nvPr/>
        </p:nvSpPr>
        <p:spPr>
          <a:xfrm>
            <a:off x="7325954" y="4713740"/>
            <a:ext cx="2228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Number of iterations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F6200A-8E65-4E2D-70B9-1852E1E9CC0D}"/>
              </a:ext>
            </a:extLst>
          </p:cNvPr>
          <p:cNvSpPr txBox="1"/>
          <p:nvPr/>
        </p:nvSpPr>
        <p:spPr>
          <a:xfrm>
            <a:off x="288489" y="1672502"/>
            <a:ext cx="385944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GB" dirty="0"/>
              <a:t>'swap' exchanges two random atoms coordinates, but only one component.</a:t>
            </a:r>
          </a:p>
          <a:p>
            <a:pPr marL="285750" indent="-285750">
              <a:buFontTx/>
              <a:buChar char="-"/>
            </a:pPr>
            <a:r>
              <a:rPr lang="en-GB" dirty="0"/>
              <a:t>e.g. randomly swap the x coordinate of atom a with the z coordinate of atom b, or randomly swap the y coordinate of atom a with the y coordinate of atom b.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6304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414</Words>
  <Application>Microsoft Macintosh PowerPoint</Application>
  <PresentationFormat>Widescreen</PresentationFormat>
  <Paragraphs>29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PES Exploration</vt:lpstr>
      <vt:lpstr>Wild</vt:lpstr>
      <vt:lpstr>Stretch</vt:lpstr>
      <vt:lpstr>Sweep</vt:lpstr>
      <vt:lpstr>Swap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SEGUN, FEMI (UG)</dc:creator>
  <cp:lastModifiedBy>SEGUN, FEMI (UG)</cp:lastModifiedBy>
  <cp:revision>1</cp:revision>
  <dcterms:created xsi:type="dcterms:W3CDTF">2026-01-22T04:42:34Z</dcterms:created>
  <dcterms:modified xsi:type="dcterms:W3CDTF">2026-01-22T05:18:31Z</dcterms:modified>
</cp:coreProperties>
</file>